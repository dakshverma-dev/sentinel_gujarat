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decision quality thesis. The product is runnable locally; live detector inference needs Docker Desktop and a permitted feed. Synthetic scenario data is labelled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80,000 is from the supplied plan, not measured capacity. Bandwidth arithmetic assumes every camera sends 2 Mbit/s continuously.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supplied PDF suggests a hybrid model but is not the official portal. Do not claim a precise comparison against all reference models until portal access is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these as implemented mechanisms. An uploaded public traffic sample is available for ingest; the live worker path was not executed because Docker Desktop engine was unavailable.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worker samples every third frame. Events are sent to FastAPI. MediaMTX supplies browser playback for compatible codecs.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status can be confirmed, low confidence, or unreadable. The gate is a conservative Haversine/detour approximation, not a road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Vehicle model is YOLO11n. Optional plate YOLO weights can be supplied. Baseline plate proposals use contours with Tesseract. Do not claim six event types are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deterministic score stays in code. No Jev API or external triage model is presented as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run creates nine synthetic tracks, seven alerts and two route rejections. This is integration proof only. The camera-wall Delhi replay clips are visual placeholders, not the source of Ahmedabad event records. No government feed or owned footage was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production license clearance. The README names the model caveats and optional Indian plate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requirements include durable event bus, PostGIS indexing, GPU sizing, credential rotation, clock-health checks, object storage, and SSO. None was load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has not been independently security audited. Native media URLs carry a JWT query parameter for local preview; protect gateway and media routes before network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department inputs: inventory, GPS, protocol, VMS/API access, NAT/VPN/bandwidth, NTP, watchlist legal authority, retention, export policy and named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a synthetic run as a government feed demo or as measured field impact. Ask organizer whether the round is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C8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444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4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0" y="1508760"/>
            <a:ext cx="3337560" cy="3337560"/>
          </a:xfrm>
          <a:prstGeom prst="roundRect">
            <a:avLst>
              <a:gd name="adj" fmla="val 7671"/>
            </a:avLst>
          </a:prstGeom>
          <a:solidFill>
            <a:srgbClr val="44403B"/>
          </a:solidFill>
          <a:ln w="12700">
            <a:solidFill>
              <a:srgbClr val="4440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57616" y="2084832"/>
            <a:ext cx="2139696" cy="2139696"/>
          </a:xfrm>
          <a:prstGeom prst="roundRect">
            <a:avLst>
              <a:gd name="adj" fmla="val 8547"/>
            </a:avLst>
          </a:prstGeom>
          <a:solidFill>
            <a:srgbClr val="44403B"/>
          </a:solidFill>
          <a:ln w="12700">
            <a:solidFill>
              <a:srgbClr val="4440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60000">
            <a:off x="8595360" y="2331720"/>
            <a:ext cx="1645920" cy="1645920"/>
          </a:xfrm>
          <a:prstGeom prst="arc">
            <a:avLst/>
          </a:prstGeom>
          <a:solidFill>
            <a:srgbClr val="44403B">
              <a:alpha val="0"/>
            </a:srgbClr>
          </a:solidFill>
          <a:ln w="38100">
            <a:solidFill>
              <a:srgbClr val="0447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2926080"/>
            <a:ext cx="502920" cy="502920"/>
          </a:xfrm>
          <a:prstGeom prst="roundRect">
            <a:avLst>
              <a:gd name="adj" fmla="val 47273"/>
            </a:avLst>
          </a:prstGeom>
          <a:solidFill>
            <a:srgbClr val="0447FF"/>
          </a:solidFill>
          <a:ln w="12700">
            <a:solidFill>
              <a:srgbClr val="044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9208" y="3172968"/>
            <a:ext cx="923544" cy="0"/>
          </a:xfrm>
          <a:prstGeom prst="line">
            <a:avLst/>
          </a:prstGeom>
          <a:noFill/>
          <a:ln w="25400">
            <a:solidFill>
              <a:srgbClr val="044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7312" y="3172968"/>
            <a:ext cx="841248" cy="0"/>
          </a:xfrm>
          <a:prstGeom prst="line">
            <a:avLst/>
          </a:prstGeom>
          <a:noFill/>
          <a:ln w="25400">
            <a:solidFill>
              <a:srgbClr val="044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08176"/>
            <a:ext cx="6711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earns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confidence.</a:t>
            </a:r>
            <a:endParaRPr lang="en-US" sz="4300" dirty="0"/>
          </a:p>
        </p:txBody>
      </p:sp>
      <p:sp>
        <p:nvSpPr>
          <p:cNvPr id="13" name="Text 11"/>
          <p:cNvSpPr/>
          <p:nvPr/>
        </p:nvSpPr>
        <p:spPr>
          <a:xfrm>
            <a:off x="557784" y="3730752"/>
            <a:ext cx="6309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6D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single-host pilot for camera onboarding, vehicle and plate analysis, governed face matching, route plausibility, and reviewable evidence.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7784" y="5276088"/>
            <a:ext cx="1691640" cy="329184"/>
          </a:xfrm>
          <a:prstGeom prst="roundRect">
            <a:avLst>
              <a:gd name="adj" fmla="val 27778"/>
            </a:avLst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5321808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E1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PILOT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95728" y="5276088"/>
            <a:ext cx="1929384" cy="329184"/>
          </a:xfrm>
          <a:prstGeom prst="roundRect">
            <a:avLst>
              <a:gd name="adj" fmla="val 27778"/>
            </a:avLst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53218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E1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EVIDENCE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estate is a decision problem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system must turn heterogeneous streams into defensible operator actions.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" y="2029968"/>
            <a:ext cx="3749040" cy="3383280"/>
          </a:xfrm>
          <a:prstGeom prst="roundRect">
            <a:avLst>
              <a:gd name="adj" fmla="val 378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35915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80,000+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786384" y="34381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scale in the brief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86384" y="431596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 Gbit/s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86384" y="487375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2B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 Mbit/s each, before overhead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08576" y="2029968"/>
            <a:ext cx="3090672" cy="1527048"/>
          </a:xfrm>
          <a:prstGeom prst="roundRect">
            <a:avLst>
              <a:gd name="adj" fmla="val 7186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91456" y="22311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0447FF"/>
          </a:solidFill>
          <a:ln w="12700">
            <a:solidFill>
              <a:srgbClr val="044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194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sources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37176" y="2660904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departments, protocols, and vendors hide context.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82128" y="2029968"/>
            <a:ext cx="3639312" cy="1527048"/>
          </a:xfrm>
          <a:prstGeom prst="roundRect">
            <a:avLst>
              <a:gd name="adj" fmla="val 7186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223113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4704"/>
          </a:solidFill>
          <a:ln w="12700">
            <a:solidFill>
              <a:srgbClr val="FF47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94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reads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10728" y="2660904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Single-frame OCR can turn a weak crop into a confident claim.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08576" y="3776472"/>
            <a:ext cx="3090672" cy="1627632"/>
          </a:xfrm>
          <a:prstGeom prst="roundRect">
            <a:avLst>
              <a:gd name="adj" fmla="val 6742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91456" y="39776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4704"/>
          </a:solidFill>
          <a:ln w="12700">
            <a:solidFill>
              <a:srgbClr val="FF47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9410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37176" y="4407408"/>
            <a:ext cx="263347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need context, an explicit review path, and provenance.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82128" y="3776472"/>
            <a:ext cx="3639312" cy="1627632"/>
          </a:xfrm>
          <a:prstGeom prst="roundRect">
            <a:avLst>
              <a:gd name="adj" fmla="val 6742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5008" y="3977640"/>
            <a:ext cx="91440" cy="91440"/>
          </a:xfrm>
          <a:prstGeom prst="roundRect">
            <a:avLst>
              <a:gd name="adj" fmla="val 50000"/>
            </a:avLst>
          </a:prstGeom>
          <a:solidFill>
            <a:srgbClr val="0447FF"/>
          </a:solidFill>
          <a:ln w="12700">
            <a:solidFill>
              <a:srgbClr val="044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9410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central video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110728" y="4407408"/>
            <a:ext cx="318211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backhaul is the wrong unit of scale; move metadata.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ARCHITECTURE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by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registry and operations view; analysis can move to district or site edge.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267712"/>
            <a:ext cx="2468880" cy="1581912"/>
          </a:xfrm>
          <a:prstGeom prst="roundRect">
            <a:avLst>
              <a:gd name="adj" fmla="val 8092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&amp; NVR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28072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RTSP / RTMP / HLS / file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2770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3419856" y="2267712"/>
            <a:ext cx="2468880" cy="1581912"/>
          </a:xfrm>
          <a:prstGeom prst="roundRect">
            <a:avLst>
              <a:gd name="adj" fmla="val 8092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ADAPTER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02736" y="28072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MediaMTX + frame decode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61888" y="2770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6272784" y="2267712"/>
            <a:ext cx="2468880" cy="1581912"/>
          </a:xfrm>
          <a:prstGeom prst="roundRect">
            <a:avLst>
              <a:gd name="adj" fmla="val 8092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EVENTS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28072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Tracks, plates, face matches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14816" y="2770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9125712" y="2267712"/>
            <a:ext cx="2468880" cy="1581912"/>
          </a:xfrm>
          <a:prstGeom prst="roundRect">
            <a:avLst>
              <a:gd name="adj" fmla="val 809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487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08592" y="28072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search, export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297680"/>
            <a:ext cx="11045952" cy="1005840"/>
          </a:xfrm>
          <a:prstGeom prst="roundRect">
            <a:avLst>
              <a:gd name="adj" fmla="val 11818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4507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pilot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07208" y="4507992"/>
            <a:ext cx="8458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host: FastAPI + PostgreSQL + detector worker + MediaMTX + React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76072" y="5596128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Models 1–5 require the official portal brief for an accurate side-by-side mapping.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DIFFERENTIATORS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C8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444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4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mechanisms that reinforce each other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DB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keeps weak evidence visible instead of silently upgrading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" y="2212848"/>
            <a:ext cx="3502152" cy="3200400"/>
          </a:xfrm>
          <a:prstGeom prst="roundRect">
            <a:avLst>
              <a:gd name="adj" fmla="val 4286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32304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86384" y="321868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Passport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6384" y="3785616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or footage onboarding; codec, fps and resolution probed; named department and map point.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0832" y="2212848"/>
            <a:ext cx="3502152" cy="3200400"/>
          </a:xfrm>
          <a:prstGeom prst="roundRect">
            <a:avLst>
              <a:gd name="adj" fmla="val 4286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432304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99432" y="321868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gate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9432" y="3785616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Cross-camera candidates show distance, time gap and implied speed. Impossible jumps enter review.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83880" y="2212848"/>
            <a:ext cx="3502152" cy="3200400"/>
          </a:xfrm>
          <a:prstGeom prst="roundRect">
            <a:avLst>
              <a:gd name="adj" fmla="val 4286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432304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12480" y="321868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FRS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12480" y="3785616"/>
            <a:ext cx="2999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needs authority, expiry, admin entry and separate reviewer approval. Unmatched embeddings are discarded.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IMPLEMENTED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path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becomes a normalized record; a track becomes a reviewable decision.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682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7157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/ video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78608" y="2679192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2816352" y="214884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3682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0944" y="27157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+ ByteTrack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679192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5074920" y="214884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23682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9512" y="27157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consensus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4888" y="2679192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342632" y="214884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23682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07224" y="27157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+ gate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0" y="2679192"/>
            <a:ext cx="21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9601200" y="2148840"/>
            <a:ext cx="1993392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5792" y="23682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65792" y="271576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+ export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07592" y="4160520"/>
            <a:ext cx="4279392" cy="1234440"/>
          </a:xfrm>
          <a:prstGeom prst="roundRect">
            <a:avLst>
              <a:gd name="adj" fmla="val 963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704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7048" y="4727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MediaMTX + detector worker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65392" y="4160520"/>
            <a:ext cx="4279392" cy="1234440"/>
          </a:xfrm>
          <a:prstGeom prst="roundRect">
            <a:avLst>
              <a:gd name="adj" fmla="val 963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PLANE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84848" y="47274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audit + React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END-TO-END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vehicle, six accountable steps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can see where the automated chain became uncertain.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4168" y="215798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44168" y="2770632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Passport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9976" y="2011680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1762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57216" y="215798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57216" y="2770632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 ID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93024" y="2011680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1762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970264" y="215798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70264" y="2770632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OCR votes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44168" y="409651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44168" y="4709160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+ expiry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79976" y="3950208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4114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157216" y="409651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57216" y="4709160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÷ time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93024" y="3950208"/>
            <a:ext cx="3493008" cy="1581912"/>
          </a:xfrm>
          <a:prstGeom prst="roundRect">
            <a:avLst>
              <a:gd name="adj" fmla="val 7514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41148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970264" y="409651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70264" y="4709160"/>
            <a:ext cx="2368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+ evidence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AI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actually does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accuracy number is claimed until labelled camera footage is tested.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" y="2048256"/>
            <a:ext cx="5257800" cy="3438144"/>
          </a:xfrm>
          <a:prstGeom prst="roundRect">
            <a:avLst>
              <a:gd name="adj" fmla="val 372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RUNNABLE 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" y="2715768"/>
            <a:ext cx="4681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→ tracks → candidate plate crops → OCR → one observation per track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32104" y="4855464"/>
            <a:ext cx="2395728" cy="329184"/>
          </a:xfrm>
          <a:prstGeom prst="roundRect">
            <a:avLst>
              <a:gd name="adj" fmla="val 27778"/>
            </a:avLst>
          </a:prstGeom>
          <a:solidFill>
            <a:srgbClr val="302D2A"/>
          </a:solidFill>
          <a:ln w="12700">
            <a:solidFill>
              <a:srgbClr val="302D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490118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E1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KEPT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2048256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22494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0447FF"/>
          </a:solidFill>
          <a:ln w="12700">
            <a:solidFill>
              <a:srgbClr val="044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2212848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approved face match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64224" y="26791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YuNet + SFace only compare to approved, unexpired entries.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35624" y="3803904"/>
            <a:ext cx="5440680" cy="1673352"/>
          </a:xfrm>
          <a:prstGeom prst="roundRect">
            <a:avLst>
              <a:gd name="adj" fmla="val 6557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4005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4704"/>
          </a:solidFill>
          <a:ln w="12700">
            <a:solidFill>
              <a:srgbClr val="FF47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3968496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model work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64224" y="4434840"/>
            <a:ext cx="4983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plate detector, labelled recall/read-rate study, and the brief’s remaining event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WATCHLIST + ALERTS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C8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444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4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 is a structured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DB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authority, expiry, confidence and route context travel together.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75688"/>
            <a:ext cx="5266944" cy="1481328"/>
          </a:xfrm>
          <a:prstGeom prst="roundRect">
            <a:avLst>
              <a:gd name="adj" fmla="val 8642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134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7614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plate / fuzzy plate / approved face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81344" y="2075688"/>
            <a:ext cx="5266944" cy="1481328"/>
          </a:xfrm>
          <a:prstGeom prst="roundRect">
            <a:avLst>
              <a:gd name="adj" fmla="val 8642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3134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37376" y="27614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Plausible / impossible / insufficient history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266944" cy="1481328"/>
          </a:xfrm>
          <a:prstGeom prst="roundRect">
            <a:avLst>
              <a:gd name="adj" fmla="val 8642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422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5902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action / human review / reject from action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81344" y="3904488"/>
            <a:ext cx="5266944" cy="1481328"/>
          </a:xfrm>
          <a:prstGeom prst="roundRect">
            <a:avLst>
              <a:gd name="adj" fmla="val 8642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41422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7376" y="45902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hash / model / audit digest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PRODUCT PROOF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impossible jump goes to review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deterministic synthetic run; scenario counts are not field metrics.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" y="2011680"/>
            <a:ext cx="6601968" cy="3593592"/>
          </a:xfrm>
          <a:prstGeom prst="roundRect">
            <a:avLst>
              <a:gd name="adj" fmla="val 40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76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CARD / DEMO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807208"/>
            <a:ext cx="4864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GJ01AB1234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68680" y="3666744"/>
            <a:ext cx="1984248" cy="329184"/>
          </a:xfrm>
          <a:prstGeom prst="roundRect">
            <a:avLst>
              <a:gd name="adj" fmla="val 27778"/>
            </a:avLst>
          </a:prstGeom>
          <a:solidFill>
            <a:srgbClr val="FBE7DF"/>
          </a:solidFill>
          <a:ln w="12700">
            <a:solidFill>
              <a:srgbClr val="FB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712464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AD3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REJECTED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Sarkhej Junction · stolen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4855464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travel in 8 seconds → review queue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79792" y="2011680"/>
            <a:ext cx="4105656" cy="1042416"/>
          </a:xfrm>
          <a:prstGeom prst="roundRect">
            <a:avLst>
              <a:gd name="adj" fmla="val 10526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9248" y="2157984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8823960" y="2258568"/>
            <a:ext cx="2459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79792" y="3246120"/>
            <a:ext cx="4105656" cy="1042416"/>
          </a:xfrm>
          <a:prstGeom prst="roundRect">
            <a:avLst>
              <a:gd name="adj" fmla="val 10526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248" y="3392424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8823960" y="3493008"/>
            <a:ext cx="2459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alerts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79792" y="4480560"/>
            <a:ext cx="4105656" cy="1042416"/>
          </a:xfrm>
          <a:prstGeom prst="roundRect">
            <a:avLst>
              <a:gd name="adj" fmla="val 10526"/>
            </a:avLst>
          </a:prstGeom>
          <a:solidFill>
            <a:srgbClr val="FBEDE7"/>
          </a:solidFill>
          <a:ln w="12700">
            <a:solidFill>
              <a:srgbClr val="FBE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4626864"/>
            <a:ext cx="1133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AD3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8823960" y="4727448"/>
            <a:ext cx="2459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routes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2648" y="5879592"/>
            <a:ext cx="10936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scenario counts, not measured field accuracy or false-alert reduction.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Self-hostable core, explicit licensing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and decision path can run on a local machine.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956816"/>
            <a:ext cx="10981944" cy="557784"/>
          </a:xfrm>
          <a:prstGeom prst="roundRect">
            <a:avLst>
              <a:gd name="adj" fmla="val 6557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0482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04825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MediaMTX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9984" y="2048256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MIT; localhost-bound pilot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642616"/>
            <a:ext cx="10981944" cy="557784"/>
          </a:xfrm>
          <a:prstGeom prst="roundRect">
            <a:avLst>
              <a:gd name="adj" fmla="val 6557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340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73405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+ ByteTrack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9984" y="2734056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AGPL / commercial option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28416"/>
            <a:ext cx="10981944" cy="557784"/>
          </a:xfrm>
          <a:prstGeom prst="roundRect">
            <a:avLst>
              <a:gd name="adj" fmla="val 6557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198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face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34640" y="341985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+ OpenCV Zoo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9984" y="3419856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data rights to verify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4014216"/>
            <a:ext cx="10981944" cy="557784"/>
          </a:xfrm>
          <a:prstGeom prst="roundRect">
            <a:avLst>
              <a:gd name="adj" fmla="val 6557"/>
            </a:avLst>
          </a:prstGeom>
          <a:solidFill>
            <a:srgbClr val="FDFCFC"/>
          </a:solidFill>
          <a:ln w="12700">
            <a:solidFill>
              <a:srgbClr val="FDF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056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34640" y="410565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PostgreSQL/PostGIS + FastAPI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9984" y="4105656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storage, JWT roles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" y="4700016"/>
            <a:ext cx="10981944" cy="557784"/>
          </a:xfrm>
          <a:prstGeom prst="roundRect">
            <a:avLst>
              <a:gd name="adj" fmla="val 6557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79145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4640" y="479145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9984" y="4791456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tiles online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" y="57515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defines a reproducible local pilot. Docker engine was unavailable during this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SCALING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C8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444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4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events, not every frame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DB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 deployment is an architecture proposal, not a benchmark result.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16712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694944" y="3364992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Gbit/s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694944" y="4160520"/>
            <a:ext cx="3227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× 2 Mbit/s, continuous central backhaul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0" y="2112264"/>
            <a:ext cx="6949440" cy="1060704"/>
          </a:xfrm>
          <a:prstGeom prst="roundRect">
            <a:avLst>
              <a:gd name="adj" fmla="val 10345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67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DISTRICT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97496" y="2322576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Ingest, analytics, short video retention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0" y="3374136"/>
            <a:ext cx="6949440" cy="1060704"/>
          </a:xfrm>
          <a:prstGeom prst="roundRect">
            <a:avLst>
              <a:gd name="adj" fmla="val 10345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529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97496" y="3584448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Replayable metadata bus, routing and storage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0" y="4636008"/>
            <a:ext cx="6949440" cy="1060704"/>
          </a:xfrm>
          <a:prstGeom prst="roundRect">
            <a:avLst>
              <a:gd name="adj" fmla="val 10345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7914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97496" y="4846320"/>
            <a:ext cx="3730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registry, search and command view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accountable operators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decision can be inspected, reversed, and attributed.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011680"/>
            <a:ext cx="5257800" cy="1563624"/>
          </a:xfrm>
          <a:prstGeom prst="roundRect">
            <a:avLst>
              <a:gd name="adj" fmla="val 7018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185416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gates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Operator, administrator and independent face reviewer.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1344" y="2011680"/>
            <a:ext cx="5257800" cy="1563624"/>
          </a:xfrm>
          <a:prstGeom prst="roundRect">
            <a:avLst>
              <a:gd name="adj" fmla="val 7018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2185416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Two-person face approval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91656" y="2706624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and expiry attached before a face entry becomes active.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5216" y="3858768"/>
            <a:ext cx="5257800" cy="1563624"/>
          </a:xfrm>
          <a:prstGeom prst="roundRect">
            <a:avLst>
              <a:gd name="adj" fmla="val 7018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032504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chain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5528" y="455371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material action includes prior digest; verifier locates tampering.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81344" y="3858768"/>
            <a:ext cx="5257800" cy="1563624"/>
          </a:xfrm>
          <a:prstGeom prst="roundRect">
            <a:avLst>
              <a:gd name="adj" fmla="val 7018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4032504"/>
            <a:ext cx="4791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packet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656" y="455371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includes source label, model, snapshot digest, audit digest.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5216" y="5861304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caveat: localhost network boundary; no external audit anchor or signed forensic seal.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DEPLOYMENT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EB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department trial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trial starts with authorized sources and labelled evaluation clips.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" y="2313432"/>
            <a:ext cx="2523744" cy="2880360"/>
          </a:xfrm>
          <a:prstGeom prst="roundRect">
            <a:avLst>
              <a:gd name="adj" fmla="val 471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29900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pilot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8952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D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scenario and public ingest clip.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45536" y="3456432"/>
            <a:ext cx="246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419856" y="2313432"/>
            <a:ext cx="2523744" cy="2880360"/>
          </a:xfrm>
          <a:prstGeom prst="roundRect">
            <a:avLst>
              <a:gd name="adj" fmla="val 471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29900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trial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93592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departments; approved feeds, GPS, clocks, watchlists.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0176" y="3456432"/>
            <a:ext cx="246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254496" y="2313432"/>
            <a:ext cx="2523744" cy="2880360"/>
          </a:xfrm>
          <a:prstGeom prst="roundRect">
            <a:avLst>
              <a:gd name="adj" fmla="val 471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29900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scale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428232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workers, durable bus, retention and SSO.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14816" y="3456432"/>
            <a:ext cx="246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9089136" y="2313432"/>
            <a:ext cx="2523744" cy="2880360"/>
          </a:xfrm>
          <a:prstGeom prst="roundRect">
            <a:avLst>
              <a:gd name="adj" fmla="val 4710"/>
            </a:avLst>
          </a:prstGeom>
          <a:solidFill>
            <a:srgbClr val="F5F3F1"/>
          </a:solidFill>
          <a:ln w="12700">
            <a:solidFill>
              <a:srgbClr val="F5F3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872" y="2514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4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62872" y="299008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scale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62872" y="3794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search, capacity tests, operating model.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3108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EVIDENCE + NEXT GATE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71432" y="3108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20" kern="0" dirty="0">
                <a:solidFill>
                  <a:srgbClr val="C8C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GUJARAT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1208" y="6510528"/>
            <a:ext cx="11137392" cy="0"/>
          </a:xfrm>
          <a:prstGeom prst="line">
            <a:avLst/>
          </a:prstGeom>
          <a:noFill/>
          <a:ln w="10160">
            <a:solidFill>
              <a:srgbClr val="4440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11128" y="65471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4A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58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impact with the next real feed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9496" y="1472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DB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ready to evaluate; field performance remains unmeasured.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39112"/>
            <a:ext cx="5486400" cy="3502152"/>
          </a:xfrm>
          <a:prstGeom prst="roundRect">
            <a:avLst>
              <a:gd name="adj" fmla="val 3916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295144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44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THIS 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770632"/>
            <a:ext cx="4828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integration tests pass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 production build passes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upload and playback checked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Scenario alerts, route and exports checked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Face model loading checked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18504" y="2039112"/>
            <a:ext cx="5257800" cy="3502152"/>
          </a:xfrm>
          <a:prstGeom prst="roundRect">
            <a:avLst>
              <a:gd name="adj" fmla="val 3916"/>
            </a:avLst>
          </a:prstGeom>
          <a:solidFill>
            <a:srgbClr val="292723"/>
          </a:solidFill>
          <a:ln w="12700">
            <a:solidFill>
              <a:srgbClr val="2927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295144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47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ON AUTHORIZED FOOTAGE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92824" y="2770632"/>
            <a:ext cx="4562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plate read rate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recall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 alerts before / after gate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p50 / p95 frame-to-alert latency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Clock and camera health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" y="5852160"/>
            <a:ext cx="10917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2B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status and portal eligibility require organizer confirmation; public notice lists 15 Sep 2026 as the original deadline.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Gujarat | An alert must earn its confidence</dc:title>
  <dc:subject>Gujarat Police video analytics pilot</dc:subject>
  <dc:creator>Sentinel Gujarat</dc:creator>
  <cp:lastModifiedBy>Sentinel Gujarat</cp:lastModifiedBy>
  <cp:revision>1</cp:revision>
  <dcterms:created xsi:type="dcterms:W3CDTF">2026-09-26T20:02:17Z</dcterms:created>
  <dcterms:modified xsi:type="dcterms:W3CDTF">2026-09-26T20:02:17Z</dcterms:modified>
</cp:coreProperties>
</file>